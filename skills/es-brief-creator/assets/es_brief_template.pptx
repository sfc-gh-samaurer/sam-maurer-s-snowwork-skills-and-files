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"/>
  </p:notesMasterIdLst>
  <p:sldIdLst>
    <p:sldId id="258" r:id="rId2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4"/>
    </p:embeddedFont>
    <p:embeddedFont>
      <p:font typeface="Montserrat" pitchFamily="2" charset="77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pR2tGhw/kx9sRMv/lSEXrTUNob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heng Li" initials="" lastIdx="1" clrIdx="0"/>
  <p:cmAuthor id="1" name="Matthew Kvancz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498D26-D5F8-469F-8DB4-8C5494B525A8}">
  <a:tblStyle styleId="{4C498D26-D5F8-469F-8DB4-8C5494B525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font" Target="fonts/font2.fntdata"/><Relationship Id="rId28" Type="http://customschemas.google.com/relationships/presentationmetadata" Target="metadata"/><Relationship Id="rId31" Type="http://schemas.openxmlformats.org/officeDocument/2006/relationships/viewProps" Target="viewProps.xml"/><Relationship Id="rId4" Type="http://schemas.openxmlformats.org/officeDocument/2006/relationships/font" Target="fonts/font1.fntdata"/><Relationship Id="rId30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7-17T17:14:11.368" idx="1">
    <p:pos x="3060" y="1080"/>
    <p:text>Is this considered a standard skeleton of criteria to review ES qualification? @matthew.kvancz@snowflake.com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DQUQAm8"/>
      </p:ext>
    </p:extLst>
  </p:cm>
  <p:cm authorId="1" dt="2026-07-17T17:14:11.368" idx="1">
    <p:pos x="3060" y="1080"/>
    <p:text>Yes.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DQUQAnc"/>
      </p:ext>
    </p:extLst>
  </p:cm>
  <p:cm authorId="1" dt="2026-07-17T17:15:39.694" idx="2">
    <p:pos x="3060" y="1180"/>
    <p:text>We should probably add "snowflake-native" to this:  "building a snowflake native, customer-specific....."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DQUQAng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4c9c50e95_2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4c9c50e95_2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4">
  <p:cSld name="Data Cloud_1_1_2">
    <p:bg>
      <p:bgPr>
        <a:solidFill>
          <a:schemeClr val="accen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4c9c50e95_2_2194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e4c9c50e95_2_2194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49" name="Google Shape;49;g3e4c9c50e95_2_2194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g3e4c9c50e95_2_2194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g3e4c9c50e95_2_2194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footer only)">
  <p:cSld name="Data Cloud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4c9c50e95_2_2208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g3e4c9c50e95_2_2208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e4c9c50e95_2_220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sz="600" b="0" i="0" u="none" strike="noStrike" cap="non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2">
  <p:cSld name="Data Cloud_1_1_3_2">
    <p:bg>
      <p:bgPr>
        <a:solidFill>
          <a:schemeClr val="accen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g3e4c9c50e95_2_2212"/>
          <p:cNvGrpSpPr/>
          <p:nvPr/>
        </p:nvGrpSpPr>
        <p:grpSpPr>
          <a:xfrm>
            <a:off x="-2" y="2914849"/>
            <a:ext cx="9143627" cy="2228425"/>
            <a:chOff x="-834856" y="2711517"/>
            <a:chExt cx="9978858" cy="2431981"/>
          </a:xfrm>
        </p:grpSpPr>
        <p:pic>
          <p:nvPicPr>
            <p:cNvPr id="66" name="Google Shape;66;g3e4c9c50e95_2_2212"/>
            <p:cNvPicPr preferRelativeResize="0"/>
            <p:nvPr/>
          </p:nvPicPr>
          <p:blipFill rotWithShape="1">
            <a:blip r:embed="rId2">
              <a:alphaModFix amt="85000"/>
            </a:blip>
            <a:srcRect l="45993" t="24708" b="30780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g3e4c9c50e95_2_2212"/>
            <p:cNvPicPr preferRelativeResize="0"/>
            <p:nvPr/>
          </p:nvPicPr>
          <p:blipFill rotWithShape="1">
            <a:blip r:embed="rId3">
              <a:alphaModFix amt="85000"/>
            </a:blip>
            <a:srcRect t="25271" r="1932" b="30786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g3e4c9c50e95_2_2212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e4c9c50e95_2_2212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70" name="Google Shape;70;g3e4c9c50e95_2_2212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1" name="Google Shape;71;g3e4c9c50e95_2_2212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2" name="Google Shape;72;g3e4c9c50e95_2_2212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1">
  <p:cSld name="Thank You">
    <p:bg>
      <p:bgPr>
        <a:solidFill>
          <a:schemeClr val="accen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4c9c50e95_2_2221"/>
          <p:cNvSpPr/>
          <p:nvPr/>
        </p:nvSpPr>
        <p:spPr>
          <a:xfrm>
            <a:off x="457200" y="4444162"/>
            <a:ext cx="1444930" cy="330450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e4c9c50e95_2_2221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e4c9c50e95_2_2221"/>
          <p:cNvSpPr txBox="1">
            <a:spLocks noGrp="1"/>
          </p:cNvSpPr>
          <p:nvPr>
            <p:ph type="body" idx="1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">
  <p:cSld name="Multi-use layout (g3e3e1138aac_7_0)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4c9c50e95_2_2225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g3e4c9c50e95_2_2225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g3e4c9c50e95_2_2225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">
  <p:cSld name="Split Layout (g3ed0f1c687a_7_0)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4c9c50e95_2_2245"/>
          <p:cNvSpPr txBox="1">
            <a:spLocks noGrp="1"/>
          </p:cNvSpPr>
          <p:nvPr>
            <p:ph type="body" idx="1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marL="914400" lvl="1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marL="2743200" lvl="5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marL="3200400" lvl="6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marL="3657600" lvl="7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marL="4114800" lvl="8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g3e4c9c50e95_2_2245"/>
          <p:cNvSpPr txBox="1">
            <a:spLocks noGrp="1"/>
          </p:cNvSpPr>
          <p:nvPr>
            <p:ph type="title"/>
          </p:nvPr>
        </p:nvSpPr>
        <p:spPr>
          <a:xfrm>
            <a:off x="365755" y="274320"/>
            <a:ext cx="39789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e4c9c50e95_2_2245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g3e4c9c50e95_2_2245"/>
          <p:cNvSpPr txBox="1">
            <a:spLocks noGrp="1"/>
          </p:cNvSpPr>
          <p:nvPr>
            <p:ph type="body" idx="2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1pPr>
            <a:lvl2pPr marL="914400" marR="0" lvl="1" indent="-3429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">
  <p:cSld name="Multi-use layout (g3ed0f1c687a_14_0)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4c9c50e95_2_2250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g3e4c9c50e95_2_2250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g3e4c9c50e95_2_2250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">
  <p:cSld name="Multi-use layout (g3ed0f1c687a_40_0)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4c9c50e95_2_2254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g3e4c9c50e95_2_2254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g3e4c9c50e95_2_2254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">
  <p:cSld name="Multi-use layout (g3ed0f1c687a_54_0)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4c9c50e95_2_2262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g3e4c9c50e95_2_2262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g3e4c9c50e95_2_2262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4c9c50e95_2_2189"/>
          <p:cNvSpPr txBox="1">
            <a:spLocks noGrp="1"/>
          </p:cNvSpPr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g3e4c9c50e95_2_2189"/>
          <p:cNvSpPr txBox="1">
            <a:spLocks noGrp="1"/>
          </p:cNvSpPr>
          <p:nvPr>
            <p:ph type="body" idx="1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g3e4c9c50e95_2_2189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g3e4c9c50e95_2_2189"/>
          <p:cNvSpPr txBox="1"/>
          <p:nvPr/>
        </p:nvSpPr>
        <p:spPr>
          <a:xfrm>
            <a:off x="3837300" y="-655600"/>
            <a:ext cx="53067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SNOWFLAKE GSLIDES THEME 2025.01</a:t>
            </a:r>
            <a:endParaRPr sz="800" b="0" i="0" u="none" strike="noStrike" cap="none">
              <a:solidFill>
                <a:srgbClr val="C8C8C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  <p:sldLayoutId id="2147483660" r:id="rId5"/>
    <p:sldLayoutId id="2147483662" r:id="rId6"/>
    <p:sldLayoutId id="2147483663" r:id="rId7"/>
    <p:sldLayoutId id="2147483664" r:id="rId8"/>
    <p:sldLayoutId id="214748366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4c9c50e95_2_41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e4c9c50e95_2_41"/>
          <p:cNvSpPr/>
          <p:nvPr/>
        </p:nvSpPr>
        <p:spPr>
          <a:xfrm>
            <a:off x="0" y="190500"/>
            <a:ext cx="133500" cy="381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c9c50e95_2_41"/>
          <p:cNvSpPr txBox="1">
            <a:spLocks noGrp="1"/>
          </p:cNvSpPr>
          <p:nvPr>
            <p:ph type="title"/>
          </p:nvPr>
        </p:nvSpPr>
        <p:spPr>
          <a:xfrm>
            <a:off x="365750" y="198120"/>
            <a:ext cx="83448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ES Brief: Auditoria Example</a:t>
            </a:r>
            <a:endParaRPr sz="2400" b="1" i="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g3e4c9c50e95_2_41"/>
          <p:cNvGrpSpPr/>
          <p:nvPr/>
        </p:nvGrpSpPr>
        <p:grpSpPr>
          <a:xfrm>
            <a:off x="239574" y="735751"/>
            <a:ext cx="8686800" cy="571500"/>
            <a:chOff x="228600" y="857250"/>
            <a:chExt cx="8686800" cy="571500"/>
          </a:xfrm>
        </p:grpSpPr>
        <p:sp>
          <p:nvSpPr>
            <p:cNvPr id="201" name="Google Shape;201;g3e4c9c50e95_2_41"/>
            <p:cNvSpPr/>
            <p:nvPr/>
          </p:nvSpPr>
          <p:spPr>
            <a:xfrm>
              <a:off x="228600" y="857250"/>
              <a:ext cx="8686800" cy="571500"/>
            </a:xfrm>
            <a:prstGeom prst="roundRect">
              <a:avLst>
                <a:gd name="adj" fmla="val 13333"/>
              </a:avLst>
            </a:prstGeom>
            <a:solidFill>
              <a:srgbClr val="11567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g3e4c9c50e95_2_41"/>
            <p:cNvSpPr txBox="1"/>
            <p:nvPr/>
          </p:nvSpPr>
          <p:spPr>
            <a:xfrm>
              <a:off x="228600" y="857250"/>
              <a:ext cx="8686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19050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29B5E8"/>
                  </a:solidFill>
                  <a:latin typeface="Arial"/>
                  <a:ea typeface="Arial"/>
                  <a:cs typeface="Arial"/>
                  <a:sym typeface="Arial"/>
                </a:rPr>
                <a:t>Customer:</a:t>
              </a:r>
              <a:r>
                <a:rPr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Auditoria</a:t>
              </a:r>
              <a:endPara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29B5E8"/>
                  </a:solidFill>
                  <a:latin typeface="Arial"/>
                  <a:ea typeface="Arial"/>
                  <a:cs typeface="Arial"/>
                  <a:sym typeface="Arial"/>
                </a:rPr>
                <a:t>Engineering Solution:</a:t>
              </a:r>
              <a:r>
                <a:rPr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Cortex Agent Quality &amp; Governed Deployment Platform</a:t>
              </a:r>
              <a:endPara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g3e4c9c50e95_2_41"/>
          <p:cNvGrpSpPr/>
          <p:nvPr/>
        </p:nvGrpSpPr>
        <p:grpSpPr>
          <a:xfrm>
            <a:off x="228600" y="1524000"/>
            <a:ext cx="4248300" cy="3524400"/>
            <a:chOff x="228600" y="1524000"/>
            <a:chExt cx="4248300" cy="3524400"/>
          </a:xfrm>
        </p:grpSpPr>
        <p:sp>
          <p:nvSpPr>
            <p:cNvPr id="204" name="Google Shape;204;g3e4c9c50e95_2_41"/>
            <p:cNvSpPr/>
            <p:nvPr/>
          </p:nvSpPr>
          <p:spPr>
            <a:xfrm>
              <a:off x="228600" y="1524000"/>
              <a:ext cx="4248300" cy="3524400"/>
            </a:xfrm>
            <a:prstGeom prst="roundRect">
              <a:avLst>
                <a:gd name="adj" fmla="val 2162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g3e4c9c50e95_2_41"/>
            <p:cNvSpPr txBox="1"/>
            <p:nvPr/>
          </p:nvSpPr>
          <p:spPr>
            <a:xfrm>
              <a:off x="419100" y="1714500"/>
              <a:ext cx="3867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1567F"/>
                  </a:solidFill>
                  <a:latin typeface="Arial"/>
                  <a:ea typeface="Arial"/>
                  <a:cs typeface="Arial"/>
                  <a:sym typeface="Arial"/>
                </a:rPr>
                <a:t>Solution Description</a:t>
              </a:r>
              <a:endParaRPr sz="1400" b="1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Auditoria automates AP/AR workflows for enterprise finance teams using AI agents powered by Cortex Analyst semantic views. They have 6 semantic views in production today, with 12+ planned, and accuracy is literally their product.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Challenge:</a:t>
              </a:r>
              <a:endParaRPr sz="10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Model updates, evaluation, and promotion are manual. Engineers use Excel with no regression detection, versioning, rollback, or safe multi-region deployment (US, EU, Canada).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1567F"/>
                  </a:solidFill>
                  <a:latin typeface="Arial"/>
                  <a:ea typeface="Arial"/>
                  <a:cs typeface="Arial"/>
                  <a:sym typeface="Arial"/>
                </a:rPr>
                <a:t>Desired Outcomes</a:t>
              </a:r>
              <a:endParaRPr sz="1200" b="1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92100" algn="l" rtl="0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Automated accuracy benchmarking (days to minutes)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Continuous drift detection with alerting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Governed, human-in-the-loop approval workflow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Faster iteration cycles for engineering team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" name="Google Shape;206;g3e4c9c50e95_2_41"/>
          <p:cNvGrpSpPr/>
          <p:nvPr/>
        </p:nvGrpSpPr>
        <p:grpSpPr>
          <a:xfrm>
            <a:off x="4667250" y="1524000"/>
            <a:ext cx="4248300" cy="3524400"/>
            <a:chOff x="4667250" y="1524000"/>
            <a:chExt cx="4248300" cy="3524400"/>
          </a:xfrm>
        </p:grpSpPr>
        <p:sp>
          <p:nvSpPr>
            <p:cNvPr id="207" name="Google Shape;207;g3e4c9c50e95_2_41"/>
            <p:cNvSpPr/>
            <p:nvPr/>
          </p:nvSpPr>
          <p:spPr>
            <a:xfrm>
              <a:off x="4667250" y="1524000"/>
              <a:ext cx="4248300" cy="3524400"/>
            </a:xfrm>
            <a:prstGeom prst="roundRect">
              <a:avLst>
                <a:gd name="adj" fmla="val 2162"/>
              </a:avLst>
            </a:prstGeom>
            <a:solidFill>
              <a:srgbClr val="FFFFFF"/>
            </a:solidFill>
            <a:ln w="9525" cap="flat" cmpd="sng">
              <a:solidFill>
                <a:srgbClr val="29B5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g3e4c9c50e95_2_41"/>
            <p:cNvSpPr txBox="1"/>
            <p:nvPr/>
          </p:nvSpPr>
          <p:spPr>
            <a:xfrm>
              <a:off x="4857750" y="1714500"/>
              <a:ext cx="3867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1567F"/>
                  </a:solidFill>
                  <a:latin typeface="Arial"/>
                  <a:ea typeface="Arial"/>
                  <a:cs typeface="Arial"/>
                  <a:sym typeface="Arial"/>
                </a:rPr>
                <a:t>ES Qualification </a:t>
              </a:r>
              <a:r>
                <a:rPr lang="en" sz="1400" b="1">
                  <a:solidFill>
                    <a:srgbClr val="11567F"/>
                  </a:solidFill>
                  <a:latin typeface="Arial"/>
                  <a:ea typeface="Arial"/>
                  <a:cs typeface="Arial"/>
                  <a:sym typeface="Arial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</a:ext>
                  </a:extLst>
                </a:rPr>
                <a:t>Criteria Comments</a:t>
              </a:r>
              <a:endParaRPr sz="1400" b="1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1567F"/>
                  </a:solidFill>
                  <a:latin typeface="Arial"/>
                  <a:ea typeface="Arial"/>
                  <a:cs typeface="Arial"/>
                  <a:sym typeface="Arial"/>
                </a:rPr>
                <a:t>New Solution Ownership</a:t>
              </a:r>
              <a:endParaRPr sz="1200" b="1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</a:ext>
                  </a:extLst>
                </a:rPr>
                <a:t>SD owns building a customer-specific system from scratch: evaluation pipeline, recommendation engine, and Streamlit interface.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1567F"/>
                  </a:solidFill>
                  <a:latin typeface="Arial"/>
                  <a:ea typeface="Arial"/>
                  <a:cs typeface="Arial"/>
                  <a:sym typeface="Arial"/>
                </a:rPr>
                <a:t>Production-Ready Delivery</a:t>
              </a:r>
              <a:endParaRPr sz="1200" b="1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 live system in Auditoria's environment with full audit trails, multi-region support, and CI/CD-like loops.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1567F"/>
                  </a:solidFill>
                  <a:latin typeface="Arial"/>
                  <a:ea typeface="Arial"/>
                  <a:cs typeface="Arial"/>
                  <a:sym typeface="Arial"/>
                </a:rPr>
                <a:t>Fixed Price Contract</a:t>
              </a:r>
              <a:endParaRPr sz="1200" b="1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Scoped as a fixed-fee engagement with defined deliverables and guaranteed outcomes.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g3e4c9c50e95_2_41"/>
          <p:cNvSpPr txBox="1"/>
          <p:nvPr/>
        </p:nvSpPr>
        <p:spPr>
          <a:xfrm>
            <a:off x="10975" y="0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Snowflake Confidential - Internal Use Only </a:t>
            </a:r>
            <a:endParaRPr sz="800" b="1" i="0" u="none" strike="noStrike" cap="none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owflake 2025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Macintosh PowerPoint</Application>
  <PresentationFormat>On-screen Show (16:9)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Montserrat</vt:lpstr>
      <vt:lpstr>Arial Black</vt:lpstr>
      <vt:lpstr>Snowflake 2025.01</vt:lpstr>
      <vt:lpstr>ES Brief: Auditoria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Maurer</cp:lastModifiedBy>
  <cp:revision>1</cp:revision>
  <dcterms:modified xsi:type="dcterms:W3CDTF">2026-08-10T21:53:21Z</dcterms:modified>
</cp:coreProperties>
</file>